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2"/>
  </p:notesMasterIdLst>
  <p:handoutMasterIdLst>
    <p:handoutMasterId r:id="rId13"/>
  </p:handoutMasterIdLst>
  <p:sldIdLst>
    <p:sldId id="312" r:id="rId5"/>
    <p:sldId id="282" r:id="rId6"/>
    <p:sldId id="314" r:id="rId7"/>
    <p:sldId id="315" r:id="rId8"/>
    <p:sldId id="319" r:id="rId9"/>
    <p:sldId id="322" r:id="rId10"/>
    <p:sldId id="321" r:id="rId11"/>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319B75-7713-4383-81CA-8D0E666B5613}" v="1" dt="2025-11-21T01:24:28.239"/>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p:scale>
          <a:sx n="75" d="100"/>
          <a:sy n="75" d="100"/>
        </p:scale>
        <p:origin x="974" y="125"/>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vi Maddy" userId="f97c57cb4adbeb4f" providerId="LiveId" clId="{C2D47EFD-1C50-470D-92B4-619EE251B393}"/>
    <pc:docChg chg="undo redo custSel addSld delSld modSld">
      <pc:chgData name="Yuvi Maddy" userId="f97c57cb4adbeb4f" providerId="LiveId" clId="{C2D47EFD-1C50-470D-92B4-619EE251B393}" dt="2025-11-21T01:30:15.024" v="35" actId="2696"/>
      <pc:docMkLst>
        <pc:docMk/>
      </pc:docMkLst>
      <pc:sldChg chg="modSp add del mod">
        <pc:chgData name="Yuvi Maddy" userId="f97c57cb4adbeb4f" providerId="LiveId" clId="{C2D47EFD-1C50-470D-92B4-619EE251B393}" dt="2025-11-21T01:30:15.024" v="35" actId="2696"/>
        <pc:sldMkLst>
          <pc:docMk/>
          <pc:sldMk cId="0" sldId="256"/>
        </pc:sldMkLst>
        <pc:spChg chg="mod">
          <ac:chgData name="Yuvi Maddy" userId="f97c57cb4adbeb4f" providerId="LiveId" clId="{C2D47EFD-1C50-470D-92B4-619EE251B393}" dt="2025-11-21T01:25:07.836" v="6" actId="1076"/>
          <ac:spMkLst>
            <pc:docMk/>
            <pc:sldMk cId="0" sldId="256"/>
            <ac:spMk id="42" creationId="{00000000-0000-0000-0000-000000000000}"/>
          </ac:spMkLst>
        </pc:spChg>
        <pc:picChg chg="mod">
          <ac:chgData name="Yuvi Maddy" userId="f97c57cb4adbeb4f" providerId="LiveId" clId="{C2D47EFD-1C50-470D-92B4-619EE251B393}" dt="2025-11-21T01:25:08.220" v="8" actId="14100"/>
          <ac:picMkLst>
            <pc:docMk/>
            <pc:sldMk cId="0" sldId="256"/>
            <ac:picMk id="40" creationId="{00000000-0000-0000-0000-000000000000}"/>
          </ac:picMkLst>
        </pc:picChg>
      </pc:sldChg>
      <pc:sldChg chg="modSp add del mod">
        <pc:chgData name="Yuvi Maddy" userId="f97c57cb4adbeb4f" providerId="LiveId" clId="{C2D47EFD-1C50-470D-92B4-619EE251B393}" dt="2025-11-21T01:30:08.046" v="34" actId="2696"/>
        <pc:sldMkLst>
          <pc:docMk/>
          <pc:sldMk cId="2202437675" sldId="312"/>
        </pc:sldMkLst>
        <pc:spChg chg="mod">
          <ac:chgData name="Yuvi Maddy" userId="f97c57cb4adbeb4f" providerId="LiveId" clId="{C2D47EFD-1C50-470D-92B4-619EE251B393}" dt="2025-11-21T01:26:40.498" v="30" actId="20577"/>
          <ac:spMkLst>
            <pc:docMk/>
            <pc:sldMk cId="2202437675" sldId="312"/>
            <ac:spMk id="4" creationId="{BF30BA36-99FC-73BF-ADA2-C87C03DE24E6}"/>
          </ac:spMkLst>
        </pc:spChg>
      </pc:sldChg>
      <pc:sldChg chg="new add del">
        <pc:chgData name="Yuvi Maddy" userId="f97c57cb4adbeb4f" providerId="LiveId" clId="{C2D47EFD-1C50-470D-92B4-619EE251B393}" dt="2025-11-21T01:26:41.769" v="32" actId="2696"/>
        <pc:sldMkLst>
          <pc:docMk/>
          <pc:sldMk cId="1875225449" sldId="32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dl.acm.org/doi/10.5555/1622407.1622416?utm_source=chatgpt.com" TargetMode="External"/><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hyperlink" Target="file:///C:\Users\lenovo\AppData\Local\Microsoft\Windows\INetCache\IE\RETFNXEL\23._Signal_Integrity_Assessment_for_Optical%5b1%5d.pdf" TargetMode="External"/><Relationship Id="rId4" Type="http://schemas.openxmlformats.org/officeDocument/2006/relationships/hyperlink" Target="https://www.sciencedirect.com/science/article/pii/S2352864823000019?utm_source=chatgpt.com"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ieeexplore.ieee.org/document/11003870" TargetMode="External"/><Relationship Id="rId2" Type="http://schemas.openxmlformats.org/officeDocument/2006/relationships/hyperlink" Target="https://www.mdpi.com/2304-6732/12/5/458" TargetMode="Externa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575689" y="1789471"/>
            <a:ext cx="6902608" cy="1939249"/>
          </a:xfrm>
        </p:spPr>
        <p:txBody>
          <a:bodyPr anchor="ctr"/>
          <a:lstStyle/>
          <a:p>
            <a:r>
              <a:rPr lang="en-US" sz="3200" dirty="0">
                <a:latin typeface="Times New Roman" panose="02020603050405020304" pitchFamily="18" charset="0"/>
                <a:cs typeface="Times New Roman" panose="02020603050405020304" pitchFamily="18" charset="0"/>
              </a:rPr>
              <a:t>Deep Learning Signal Integrity Assessment for Optical Communication</a:t>
            </a:r>
          </a:p>
        </p:txBody>
      </p:sp>
      <p:sp>
        <p:nvSpPr>
          <p:cNvPr id="3" name="TextBox 2">
            <a:extLst>
              <a:ext uri="{FF2B5EF4-FFF2-40B4-BE49-F238E27FC236}">
                <a16:creationId xmlns:a16="http://schemas.microsoft.com/office/drawing/2014/main" id="{69D98239-EE53-0C38-2325-67BD902DD85F}"/>
              </a:ext>
            </a:extLst>
          </p:cNvPr>
          <p:cNvSpPr txBox="1"/>
          <p:nvPr/>
        </p:nvSpPr>
        <p:spPr>
          <a:xfrm>
            <a:off x="2831507" y="707923"/>
            <a:ext cx="6646789" cy="923330"/>
          </a:xfrm>
          <a:prstGeom prst="rect">
            <a:avLst/>
          </a:prstGeom>
          <a:noFill/>
        </p:spPr>
        <p:txBody>
          <a:bodyPr wrap="square" rtlCol="0">
            <a:spAutoFit/>
          </a:bodyPr>
          <a:lstStyle/>
          <a:p>
            <a:r>
              <a:rPr lang="en-IN" b="1" dirty="0">
                <a:solidFill>
                  <a:schemeClr val="accent1">
                    <a:lumMod val="50000"/>
                  </a:schemeClr>
                </a:solidFill>
                <a:latin typeface="Times New Roman" panose="02020603050405020304" pitchFamily="18" charset="0"/>
                <a:cs typeface="Times New Roman" panose="02020603050405020304" pitchFamily="18" charset="0"/>
              </a:rPr>
              <a:t>KOMMURI PRATAP REDDY INSTITUTE OF TECHNOLOGY</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MAJOR PROJECT STAGE - 1 </a:t>
            </a:r>
          </a:p>
        </p:txBody>
      </p:sp>
      <p:sp>
        <p:nvSpPr>
          <p:cNvPr id="4" name="TextBox 3">
            <a:extLst>
              <a:ext uri="{FF2B5EF4-FFF2-40B4-BE49-F238E27FC236}">
                <a16:creationId xmlns:a16="http://schemas.microsoft.com/office/drawing/2014/main" id="{BF30BA36-99FC-73BF-ADA2-C87C03DE24E6}"/>
              </a:ext>
            </a:extLst>
          </p:cNvPr>
          <p:cNvSpPr txBox="1"/>
          <p:nvPr/>
        </p:nvSpPr>
        <p:spPr>
          <a:xfrm>
            <a:off x="4532671" y="4311445"/>
            <a:ext cx="4060723" cy="2585323"/>
          </a:xfrm>
          <a:prstGeom prst="rect">
            <a:avLst/>
          </a:prstGeom>
          <a:noFill/>
        </p:spPr>
        <p:txBody>
          <a:bodyPr wrap="square" rtlCol="0">
            <a:spAutoFit/>
          </a:bodyPr>
          <a:lstStyle/>
          <a:p>
            <a:r>
              <a:rPr lang="en-IN" dirty="0">
                <a:solidFill>
                  <a:srgbClr val="202C8F"/>
                </a:solidFill>
                <a:latin typeface="Times New Roman" panose="02020603050405020304" pitchFamily="18" charset="0"/>
                <a:cs typeface="Times New Roman" panose="02020603050405020304" pitchFamily="18" charset="0"/>
              </a:rPr>
              <a:t>UNDER THE GUIDANCE</a:t>
            </a:r>
            <a:r>
              <a:rPr lang="en-IN" dirty="0">
                <a:latin typeface="Times New Roman" panose="02020603050405020304" pitchFamily="18" charset="0"/>
                <a:cs typeface="Times New Roman" panose="02020603050405020304" pitchFamily="18" charset="0"/>
              </a:rPr>
              <a:t>:</a:t>
            </a:r>
          </a:p>
          <a:p>
            <a:r>
              <a:rPr lang="en-US" dirty="0">
                <a:solidFill>
                  <a:srgbClr val="202C8F"/>
                </a:solidFill>
                <a:latin typeface="Times New Roman" panose="02020603050405020304" pitchFamily="18" charset="0"/>
                <a:cs typeface="Times New Roman" panose="02020603050405020304" pitchFamily="18" charset="0"/>
                <a:sym typeface="+mn-ea"/>
              </a:rPr>
              <a:t>Mrs. </a:t>
            </a:r>
            <a:r>
              <a:rPr lang="en-IN" altLang="en-US" dirty="0">
                <a:solidFill>
                  <a:srgbClr val="202C8F"/>
                </a:solidFill>
                <a:latin typeface="Times New Roman" panose="02020603050405020304" pitchFamily="18" charset="0"/>
                <a:cs typeface="Times New Roman" panose="02020603050405020304" pitchFamily="18" charset="0"/>
                <a:sym typeface="+mn-ea"/>
              </a:rPr>
              <a:t>A.HAREESHA</a:t>
            </a:r>
            <a:endParaRPr lang="en-IN" altLang="en-US" sz="1000" dirty="0">
              <a:solidFill>
                <a:srgbClr val="202C8F"/>
              </a:solidFill>
              <a:latin typeface="Times New Roman" panose="02020603050405020304" pitchFamily="18" charset="0"/>
              <a:cs typeface="Times New Roman" panose="02020603050405020304" pitchFamily="18" charset="0"/>
              <a:sym typeface="+mn-ea"/>
            </a:endParaRPr>
          </a:p>
          <a:p>
            <a:endParaRPr lang="en-IN" dirty="0">
              <a:solidFill>
                <a:srgbClr val="202C8F"/>
              </a:solidFill>
              <a:latin typeface="Times New Roman" panose="02020603050405020304" pitchFamily="18" charset="0"/>
              <a:cs typeface="Times New Roman" panose="02020603050405020304" pitchFamily="18" charset="0"/>
              <a:sym typeface="+mn-ea"/>
            </a:endParaRPr>
          </a:p>
          <a:p>
            <a:endParaRPr lang="en-IN" dirty="0">
              <a:solidFill>
                <a:schemeClr val="bg1"/>
              </a:solidFill>
              <a:latin typeface="Times New Roman" panose="02020603050405020304" pitchFamily="18" charset="0"/>
              <a:cs typeface="Times New Roman" panose="02020603050405020304" pitchFamily="18" charset="0"/>
              <a:sym typeface="+mn-ea"/>
            </a:endParaRPr>
          </a:p>
          <a:p>
            <a:r>
              <a:rPr lang="en-IN" dirty="0">
                <a:solidFill>
                  <a:srgbClr val="FDFBF6"/>
                </a:solidFill>
                <a:latin typeface="Times New Roman" panose="02020603050405020304" pitchFamily="18" charset="0"/>
                <a:cs typeface="Times New Roman" panose="02020603050405020304" pitchFamily="18" charset="0"/>
              </a:rPr>
              <a:t>TEAM :</a:t>
            </a:r>
          </a:p>
          <a:p>
            <a:r>
              <a:rPr lang="en-US" spc="-68" dirty="0">
                <a:solidFill>
                  <a:srgbClr val="FDFBF6"/>
                </a:solidFill>
                <a:latin typeface="Times New Roman" panose="02020603050405020304" pitchFamily="18" charset="0"/>
                <a:ea typeface="Poppins"/>
                <a:cs typeface="Times New Roman" panose="02020603050405020304" pitchFamily="18" charset="0"/>
                <a:sym typeface="Poppins"/>
              </a:rPr>
              <a:t>RANDHI  RAM KIRAN  (22RA1A6659)</a:t>
            </a:r>
          </a:p>
          <a:p>
            <a:r>
              <a:rPr lang="en-US" spc="-68" dirty="0">
                <a:solidFill>
                  <a:srgbClr val="FDFBF6"/>
                </a:solidFill>
                <a:latin typeface="Times New Roman" panose="02020603050405020304" pitchFamily="18" charset="0"/>
                <a:ea typeface="Poppins"/>
                <a:cs typeface="Times New Roman" panose="02020603050405020304" pitchFamily="18" charset="0"/>
                <a:sym typeface="Poppins"/>
              </a:rPr>
              <a:t>MADUGU YUVARAJ (22RA1A6697)</a:t>
            </a:r>
          </a:p>
          <a:p>
            <a:r>
              <a:rPr lang="en-US" spc="-68" dirty="0">
                <a:solidFill>
                  <a:srgbClr val="FDFBF6"/>
                </a:solidFill>
                <a:latin typeface="Times New Roman" panose="02020603050405020304" pitchFamily="18" charset="0"/>
                <a:ea typeface="Poppins"/>
                <a:cs typeface="Times New Roman" panose="02020603050405020304" pitchFamily="18" charset="0"/>
                <a:sym typeface="Poppins"/>
              </a:rPr>
              <a:t>MADDATI  RAKESH (22RA1A6658)</a:t>
            </a:r>
          </a:p>
          <a:p>
            <a:endParaRPr lang="en-IN" dirty="0">
              <a:solidFill>
                <a:schemeClr val="bg1"/>
              </a:solidFill>
            </a:endParaRPr>
          </a:p>
        </p:txBody>
      </p:sp>
      <p:pic>
        <p:nvPicPr>
          <p:cNvPr id="5" name="Picture 4">
            <a:extLst>
              <a:ext uri="{FF2B5EF4-FFF2-40B4-BE49-F238E27FC236}">
                <a16:creationId xmlns:a16="http://schemas.microsoft.com/office/drawing/2014/main" id="{34C9B2DF-BEAD-E7DE-F63B-1571769684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974" y="334861"/>
            <a:ext cx="1936955" cy="604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765974" y="692943"/>
            <a:ext cx="7965461" cy="625667"/>
          </a:xfrm>
        </p:spPr>
        <p:txBody>
          <a:bodyPr/>
          <a:lstStyle/>
          <a:p>
            <a:r>
              <a:rPr lang="en-IN" dirty="0"/>
              <a:t>Abstract </a:t>
            </a: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765974" y="1691148"/>
            <a:ext cx="10660051" cy="4109579"/>
          </a:xfrm>
        </p:spPr>
        <p:txBody>
          <a:bodyPr/>
          <a:lstStyle/>
          <a:p>
            <a:pPr marL="0" indent="0">
              <a:buNone/>
            </a:pPr>
            <a:r>
              <a:rPr lang="en-US" sz="2000" dirty="0"/>
              <a:t>Modern optical communication systems require reliable and accurate monitoring of signal quality, but traditional threshold-based and manual methods often fail to capture complex nonlinear patterns and struggle with noise, interference, and imbalanced datasets. To address these limitations, this work introduces an intelligent, fully automated machine learning framework for Signal Integrity Assessment. </a:t>
            </a:r>
          </a:p>
          <a:p>
            <a:pPr marL="0" indent="0">
              <a:buNone/>
            </a:pPr>
            <a:endParaRPr lang="en-US" sz="2000" dirty="0"/>
          </a:p>
          <a:p>
            <a:pPr marL="0" indent="0">
              <a:buNone/>
            </a:pPr>
            <a:r>
              <a:rPr lang="en-US" sz="2000" dirty="0"/>
              <a:t>A new Dual-Learner Fusion Architecture (DLFA), combining Random Forest and Logistic Regression, is proposed to enhance accuracy, stability. A user friendly </a:t>
            </a:r>
            <a:r>
              <a:rPr lang="en-US" sz="2000" dirty="0" err="1"/>
              <a:t>Tkinter</a:t>
            </a:r>
            <a:r>
              <a:rPr lang="en-US" sz="2000" dirty="0"/>
              <a:t> GUI integrates all stages from dataset upload to real-time prediction, making advanced signal analysis accessible even to non-experts. This system improves prediction reliability for optical communication.</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pic>
        <p:nvPicPr>
          <p:cNvPr id="4" name="Picture 3" descr="925716457s.png">
            <a:extLst>
              <a:ext uri="{FF2B5EF4-FFF2-40B4-BE49-F238E27FC236}">
                <a16:creationId xmlns:a16="http://schemas.microsoft.com/office/drawing/2014/main" id="{2665DD9D-8314-A114-3BAF-6A0DF360C73B}"/>
              </a:ext>
            </a:extLst>
          </p:cNvPr>
          <p:cNvPicPr>
            <a:picLocks noChangeAspect="1"/>
          </p:cNvPicPr>
          <p:nvPr/>
        </p:nvPicPr>
        <p:blipFill>
          <a:blip r:embed="rId3" cstate="print"/>
          <a:stretch>
            <a:fillRect/>
          </a:stretch>
        </p:blipFill>
        <p:spPr>
          <a:xfrm>
            <a:off x="10255044" y="6204156"/>
            <a:ext cx="1787013" cy="496517"/>
          </a:xfrm>
          <a:prstGeom prst="rect">
            <a:avLst/>
          </a:prstGeom>
        </p:spPr>
      </p:pic>
    </p:spTree>
    <p:extLst>
      <p:ext uri="{BB962C8B-B14F-4D97-AF65-F5344CB8AC3E}">
        <p14:creationId xmlns:p14="http://schemas.microsoft.com/office/powerpoint/2010/main" val="685681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765973" y="692943"/>
            <a:ext cx="7043617" cy="627814"/>
          </a:xfrm>
        </p:spPr>
        <p:txBody>
          <a:bodyPr/>
          <a:lstStyle/>
          <a:p>
            <a:r>
              <a:rPr lang="en-IN" dirty="0"/>
              <a:t>Existing Methods</a:t>
            </a:r>
            <a:endParaRPr lang="en-US"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3</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855406" y="1494504"/>
            <a:ext cx="10553020" cy="4547480"/>
          </a:xfrm>
        </p:spPr>
        <p:txBody>
          <a:bodyPr>
            <a:normAutofit lnSpcReduction="10000"/>
          </a:bodyPr>
          <a:lstStyle/>
          <a:p>
            <a:r>
              <a:rPr lang="en-US" sz="2000" dirty="0"/>
              <a:t>Traditional signal integrity assessment in optical communication mainly uses </a:t>
            </a:r>
          </a:p>
          <a:p>
            <a:r>
              <a:rPr lang="en-US" sz="2000" b="1" dirty="0"/>
              <a:t>manual or rule-based techniques</a:t>
            </a:r>
            <a:r>
              <a:rPr lang="en-US" sz="2000" dirty="0"/>
              <a:t>, such as:</a:t>
            </a:r>
          </a:p>
          <a:p>
            <a:pPr marL="1143000" lvl="2" indent="-457200">
              <a:buFont typeface="+mj-lt"/>
              <a:buAutoNum type="arabicPeriod"/>
            </a:pPr>
            <a:r>
              <a:rPr lang="en-IN" sz="2000" dirty="0"/>
              <a:t>Threshold-Based Analysis</a:t>
            </a:r>
            <a:endParaRPr lang="en-US" sz="2000" dirty="0"/>
          </a:p>
          <a:p>
            <a:pPr marL="1143000" lvl="2" indent="-457200">
              <a:buFont typeface="+mj-lt"/>
              <a:buAutoNum type="arabicPeriod"/>
            </a:pPr>
            <a:r>
              <a:rPr lang="en-IN" sz="2000" dirty="0"/>
              <a:t>Manual Expert Inspection</a:t>
            </a:r>
          </a:p>
          <a:p>
            <a:pPr marL="1143000" lvl="2" indent="-457200">
              <a:buFont typeface="+mj-lt"/>
              <a:buAutoNum type="arabicPeriod"/>
            </a:pPr>
            <a:r>
              <a:rPr lang="en-IN" sz="2000" dirty="0"/>
              <a:t>Basic Statistical Models</a:t>
            </a:r>
          </a:p>
          <a:p>
            <a:pPr marL="1143000" lvl="2" indent="-457200">
              <a:buFont typeface="+mj-lt"/>
              <a:buAutoNum type="arabicPeriod"/>
            </a:pPr>
            <a:r>
              <a:rPr lang="en-IN" sz="2000" dirty="0"/>
              <a:t>Rule Based Decision Systems</a:t>
            </a:r>
          </a:p>
          <a:p>
            <a:endParaRPr lang="en-IN" sz="2000" dirty="0"/>
          </a:p>
          <a:p>
            <a:endParaRPr lang="en-IN" sz="2000" dirty="0"/>
          </a:p>
          <a:p>
            <a:pPr algn="ctr"/>
            <a:r>
              <a:rPr lang="en-IN" sz="2000" b="1" dirty="0">
                <a:solidFill>
                  <a:srgbClr val="202C8F"/>
                </a:solidFill>
              </a:rPr>
              <a:t>DRAWBACKS:</a:t>
            </a:r>
          </a:p>
          <a:p>
            <a:pPr marL="457200" indent="-457200" algn="ctr">
              <a:buFont typeface="+mj-lt"/>
              <a:buAutoNum type="arabicPeriod"/>
            </a:pPr>
            <a:r>
              <a:rPr lang="en-IN" sz="2000" dirty="0"/>
              <a:t>Cannot Capture Complex Patterns</a:t>
            </a:r>
          </a:p>
          <a:p>
            <a:pPr marL="457200" indent="-457200" algn="ctr">
              <a:buFont typeface="+mj-lt"/>
              <a:buAutoNum type="arabicPeriod"/>
            </a:pPr>
            <a:r>
              <a:rPr lang="en-IN" sz="2000" dirty="0"/>
              <a:t>Highly Sensitive to Noise</a:t>
            </a:r>
          </a:p>
          <a:p>
            <a:pPr marL="457200" indent="-457200" algn="ctr">
              <a:buFont typeface="+mj-lt"/>
              <a:buAutoNum type="arabicPeriod"/>
            </a:pPr>
            <a:r>
              <a:rPr lang="en-US" sz="2000" dirty="0"/>
              <a:t>Depends Too Much on Human Expertise</a:t>
            </a:r>
          </a:p>
          <a:p>
            <a:pPr marL="457200" indent="-457200" algn="ctr">
              <a:buFont typeface="+mj-lt"/>
              <a:buAutoNum type="arabicPeriod"/>
            </a:pPr>
            <a:r>
              <a:rPr lang="en-US" sz="2000" dirty="0"/>
              <a:t>Poor Performance on Imbalanced Data</a:t>
            </a:r>
          </a:p>
          <a:p>
            <a:pPr marL="457200" indent="-457200" algn="ctr">
              <a:buFont typeface="+mj-lt"/>
              <a:buAutoNum type="arabicPeriod"/>
            </a:pPr>
            <a:r>
              <a:rPr lang="en-IN" sz="2000" dirty="0"/>
              <a:t>Not Scalable or Adaptive</a:t>
            </a:r>
          </a:p>
          <a:p>
            <a:pPr marL="457200" indent="-457200" algn="ctr">
              <a:buFont typeface="+mj-lt"/>
              <a:buAutoNum type="arabicPeriod"/>
            </a:pPr>
            <a:r>
              <a:rPr lang="en-US" sz="2000" dirty="0"/>
              <a:t>Limited Accuracy and Slow Response</a:t>
            </a:r>
            <a:endParaRPr lang="en-IN" sz="2000" b="1" dirty="0">
              <a:solidFill>
                <a:srgbClr val="202C8F"/>
              </a:solidFill>
            </a:endParaRPr>
          </a:p>
          <a:p>
            <a:pPr algn="ctr"/>
            <a:endParaRPr lang="en-IN" sz="2000" b="1" dirty="0">
              <a:solidFill>
                <a:srgbClr val="202C8F"/>
              </a:solidFill>
            </a:endParaRPr>
          </a:p>
          <a:p>
            <a:endParaRPr lang="en-US" sz="2000" dirty="0">
              <a:solidFill>
                <a:schemeClr val="accent1">
                  <a:lumMod val="50000"/>
                </a:schemeClr>
              </a:solidFill>
            </a:endParaRPr>
          </a:p>
        </p:txBody>
      </p:sp>
      <p:pic>
        <p:nvPicPr>
          <p:cNvPr id="5" name="Picture 4" descr="925716457s.png">
            <a:extLst>
              <a:ext uri="{FF2B5EF4-FFF2-40B4-BE49-F238E27FC236}">
                <a16:creationId xmlns:a16="http://schemas.microsoft.com/office/drawing/2014/main" id="{EABF5FCD-30F1-FAA3-F23A-211ECA100C2E}"/>
              </a:ext>
            </a:extLst>
          </p:cNvPr>
          <p:cNvPicPr>
            <a:picLocks noChangeAspect="1"/>
          </p:cNvPicPr>
          <p:nvPr/>
        </p:nvPicPr>
        <p:blipFill>
          <a:blip r:embed="rId3" cstate="print"/>
          <a:stretch>
            <a:fillRect/>
          </a:stretch>
        </p:blipFill>
        <p:spPr>
          <a:xfrm>
            <a:off x="10255044" y="6204156"/>
            <a:ext cx="1787013" cy="496517"/>
          </a:xfrm>
          <a:prstGeom prst="rect">
            <a:avLst/>
          </a:prstGeom>
        </p:spPr>
      </p:pic>
    </p:spTree>
    <p:extLst>
      <p:ext uri="{BB962C8B-B14F-4D97-AF65-F5344CB8AC3E}">
        <p14:creationId xmlns:p14="http://schemas.microsoft.com/office/powerpoint/2010/main" val="1131718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765973" y="692943"/>
            <a:ext cx="7796464" cy="611192"/>
          </a:xfrm>
        </p:spPr>
        <p:txBody>
          <a:bodyPr/>
          <a:lstStyle/>
          <a:p>
            <a:r>
              <a:rPr lang="en-IN" dirty="0"/>
              <a:t>Proposed Method</a:t>
            </a:r>
            <a:endParaRPr lang="en-US" dirty="0"/>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4</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765973" y="1543666"/>
            <a:ext cx="10806595" cy="4296696"/>
          </a:xfrm>
        </p:spPr>
        <p:txBody>
          <a:bodyPr>
            <a:normAutofit lnSpcReduction="10000"/>
          </a:bodyPr>
          <a:lstStyle/>
          <a:p>
            <a:pPr marL="285750" indent="-285750">
              <a:buFont typeface="Arial" panose="020B0604020202020204" pitchFamily="34" charset="0"/>
              <a:buChar char="•"/>
            </a:pPr>
            <a:r>
              <a:rPr lang="en-US" dirty="0"/>
              <a:t>The proposed method introduces an automated, ML based system for accurate Signal Quality classification in optical communication. </a:t>
            </a:r>
          </a:p>
          <a:p>
            <a:pPr marL="285750" indent="-285750">
              <a:buFont typeface="Arial" panose="020B0604020202020204" pitchFamily="34" charset="0"/>
              <a:buChar char="•"/>
            </a:pPr>
            <a:r>
              <a:rPr lang="en-US" dirty="0"/>
              <a:t>It replaces manual, threshold-based evaluation with a complete AI pipeline that preprocesses data, balances classes, trains multiple models, and uses a Dual-Learner Fusion Architecture (DLFA) combining Random Forest and Logistic Regression for superior accuracy. </a:t>
            </a:r>
          </a:p>
          <a:p>
            <a:pPr marL="285750" indent="-285750">
              <a:buFont typeface="Arial" panose="020B0604020202020204" pitchFamily="34" charset="0"/>
              <a:buChar char="•"/>
            </a:pPr>
            <a:r>
              <a:rPr lang="en-US" dirty="0"/>
              <a:t>A user-friendly Tk-inter GUI integrates all steps from data upload to prediction—making the system efficient, reliable, and easy to use.</a:t>
            </a:r>
          </a:p>
          <a:p>
            <a:r>
              <a:rPr lang="en-US" dirty="0"/>
              <a:t>Overview:</a:t>
            </a:r>
          </a:p>
          <a:p>
            <a:pPr marL="342900" indent="-342900">
              <a:buFont typeface="+mj-lt"/>
              <a:buAutoNum type="arabicPeriod"/>
            </a:pPr>
            <a:r>
              <a:rPr lang="en-IN" dirty="0"/>
              <a:t>Data Preprocessing</a:t>
            </a:r>
          </a:p>
          <a:p>
            <a:pPr marL="342900" indent="-342900">
              <a:buFont typeface="+mj-lt"/>
              <a:buAutoNum type="arabicPeriod"/>
            </a:pPr>
            <a:r>
              <a:rPr lang="en-IN" dirty="0"/>
              <a:t>Baseline Model Training</a:t>
            </a:r>
          </a:p>
          <a:p>
            <a:pPr marL="342900" indent="-342900">
              <a:buFont typeface="+mj-lt"/>
              <a:buAutoNum type="arabicPeriod"/>
            </a:pPr>
            <a:r>
              <a:rPr lang="en-IN" dirty="0"/>
              <a:t>Dual-Learner Fusion Architecture (DLFA)</a:t>
            </a:r>
          </a:p>
          <a:p>
            <a:pPr marL="342900" indent="-342900">
              <a:buFont typeface="+mj-lt"/>
              <a:buAutoNum type="arabicPeriod"/>
            </a:pPr>
            <a:r>
              <a:rPr lang="en-IN" dirty="0"/>
              <a:t>GUI Integration</a:t>
            </a:r>
          </a:p>
          <a:p>
            <a:pPr marL="342900" indent="-342900">
              <a:buFont typeface="+mj-lt"/>
              <a:buAutoNum type="arabicPeriod"/>
            </a:pPr>
            <a:r>
              <a:rPr lang="en-IN" dirty="0"/>
              <a:t>Model Deployment – Prediction Model</a:t>
            </a:r>
            <a:endParaRPr lang="en-US" dirty="0"/>
          </a:p>
        </p:txBody>
      </p:sp>
      <p:pic>
        <p:nvPicPr>
          <p:cNvPr id="4" name="Picture 3" descr="925716457s.png">
            <a:extLst>
              <a:ext uri="{FF2B5EF4-FFF2-40B4-BE49-F238E27FC236}">
                <a16:creationId xmlns:a16="http://schemas.microsoft.com/office/drawing/2014/main" id="{258E2ADD-1040-7B15-4928-763F78CC04E4}"/>
              </a:ext>
            </a:extLst>
          </p:cNvPr>
          <p:cNvPicPr>
            <a:picLocks noChangeAspect="1"/>
          </p:cNvPicPr>
          <p:nvPr/>
        </p:nvPicPr>
        <p:blipFill>
          <a:blip r:embed="rId3" cstate="print"/>
          <a:stretch>
            <a:fillRect/>
          </a:stretch>
        </p:blipFill>
        <p:spPr>
          <a:xfrm>
            <a:off x="10255044" y="6204156"/>
            <a:ext cx="1787013" cy="496517"/>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3251399" y="604576"/>
            <a:ext cx="5689201" cy="570684"/>
          </a:xfrm>
        </p:spPr>
        <p:txBody>
          <a:bodyPr/>
          <a:lstStyle/>
          <a:p>
            <a:r>
              <a:rPr lang="en-US" dirty="0"/>
              <a:t>Literature survey</a:t>
            </a:r>
          </a:p>
        </p:txBody>
      </p:sp>
      <p:graphicFrame>
        <p:nvGraphicFramePr>
          <p:cNvPr id="6" name="Content Placeholder 5">
            <a:extLst>
              <a:ext uri="{FF2B5EF4-FFF2-40B4-BE49-F238E27FC236}">
                <a16:creationId xmlns:a16="http://schemas.microsoft.com/office/drawing/2014/main" id="{4DB3991E-0605-C20E-53AD-D64E13638DA5}"/>
              </a:ext>
            </a:extLst>
          </p:cNvPr>
          <p:cNvGraphicFramePr>
            <a:graphicFrameLocks noGrp="1"/>
          </p:cNvGraphicFramePr>
          <p:nvPr>
            <p:ph sz="half" idx="1"/>
            <p:extLst>
              <p:ext uri="{D42A27DB-BD31-4B8C-83A1-F6EECF244321}">
                <p14:modId xmlns:p14="http://schemas.microsoft.com/office/powerpoint/2010/main" val="32403010"/>
              </p:ext>
            </p:extLst>
          </p:nvPr>
        </p:nvGraphicFramePr>
        <p:xfrm>
          <a:off x="412955" y="1308741"/>
          <a:ext cx="11366090" cy="5096515"/>
        </p:xfrm>
        <a:graphic>
          <a:graphicData uri="http://schemas.openxmlformats.org/drawingml/2006/table">
            <a:tbl>
              <a:tblPr firstRow="1" bandRow="1">
                <a:tableStyleId>{3B4B98B0-60AC-42C2-AFA5-B58CD77FA1E5}</a:tableStyleId>
              </a:tblPr>
              <a:tblGrid>
                <a:gridCol w="2662395">
                  <a:extLst>
                    <a:ext uri="{9D8B030D-6E8A-4147-A177-3AD203B41FA5}">
                      <a16:colId xmlns:a16="http://schemas.microsoft.com/office/drawing/2014/main" val="180956085"/>
                    </a:ext>
                  </a:extLst>
                </a:gridCol>
                <a:gridCol w="3520946">
                  <a:extLst>
                    <a:ext uri="{9D8B030D-6E8A-4147-A177-3AD203B41FA5}">
                      <a16:colId xmlns:a16="http://schemas.microsoft.com/office/drawing/2014/main" val="1180706872"/>
                    </a:ext>
                  </a:extLst>
                </a:gridCol>
                <a:gridCol w="2999988">
                  <a:extLst>
                    <a:ext uri="{9D8B030D-6E8A-4147-A177-3AD203B41FA5}">
                      <a16:colId xmlns:a16="http://schemas.microsoft.com/office/drawing/2014/main" val="2050154702"/>
                    </a:ext>
                  </a:extLst>
                </a:gridCol>
                <a:gridCol w="2182761">
                  <a:extLst>
                    <a:ext uri="{9D8B030D-6E8A-4147-A177-3AD203B41FA5}">
                      <a16:colId xmlns:a16="http://schemas.microsoft.com/office/drawing/2014/main" val="1872764148"/>
                    </a:ext>
                  </a:extLst>
                </a:gridCol>
              </a:tblGrid>
              <a:tr h="478997">
                <a:tc>
                  <a:txBody>
                    <a:bodyPr/>
                    <a:lstStyle/>
                    <a:p>
                      <a:r>
                        <a:rPr lang="en-US" sz="2000" dirty="0">
                          <a:solidFill>
                            <a:srgbClr val="202C8F"/>
                          </a:solidFill>
                        </a:rPr>
                        <a:t>Author / Year</a:t>
                      </a:r>
                    </a:p>
                  </a:txBody>
                  <a:tcPr anchor="ctr"/>
                </a:tc>
                <a:tc>
                  <a:txBody>
                    <a:bodyPr/>
                    <a:lstStyle/>
                    <a:p>
                      <a:r>
                        <a:rPr lang="en-IN" sz="2000" dirty="0">
                          <a:solidFill>
                            <a:srgbClr val="202C8F"/>
                          </a:solidFill>
                        </a:rPr>
                        <a:t>Title / Source</a:t>
                      </a:r>
                      <a:endParaRPr lang="en-US" sz="2000" dirty="0">
                        <a:solidFill>
                          <a:srgbClr val="202C8F"/>
                        </a:solidFill>
                      </a:endParaRPr>
                    </a:p>
                  </a:txBody>
                  <a:tcPr anchor="ctr"/>
                </a:tc>
                <a:tc>
                  <a:txBody>
                    <a:bodyPr/>
                    <a:lstStyle/>
                    <a:p>
                      <a:r>
                        <a:rPr lang="en-IN" sz="2000" dirty="0">
                          <a:solidFill>
                            <a:srgbClr val="202C8F"/>
                          </a:solidFill>
                        </a:rPr>
                        <a:t>Method / Focus</a:t>
                      </a:r>
                      <a:endParaRPr lang="en-US" sz="2000" dirty="0">
                        <a:solidFill>
                          <a:srgbClr val="202C8F"/>
                        </a:solidFill>
                      </a:endParaRPr>
                    </a:p>
                  </a:txBody>
                  <a:tcPr anchor="ctr"/>
                </a:tc>
                <a:tc>
                  <a:txBody>
                    <a:bodyPr/>
                    <a:lstStyle/>
                    <a:p>
                      <a:r>
                        <a:rPr lang="en-IN" sz="2000" dirty="0">
                          <a:solidFill>
                            <a:srgbClr val="202C8F"/>
                          </a:solidFill>
                        </a:rPr>
                        <a:t>Key Findings</a:t>
                      </a:r>
                      <a:endParaRPr lang="en-US" sz="2000" dirty="0">
                        <a:solidFill>
                          <a:srgbClr val="202C8F"/>
                        </a:solidFill>
                      </a:endParaRPr>
                    </a:p>
                  </a:txBody>
                  <a:tcPr anchor="ctr"/>
                </a:tc>
                <a:extLst>
                  <a:ext uri="{0D108BD9-81ED-4DB2-BD59-A6C34878D82A}">
                    <a16:rowId xmlns:a16="http://schemas.microsoft.com/office/drawing/2014/main" val="3059142786"/>
                  </a:ext>
                </a:extLst>
              </a:tr>
              <a:tr h="1318146">
                <a:tc>
                  <a:txBody>
                    <a:bodyPr/>
                    <a:lstStyle/>
                    <a:p>
                      <a:r>
                        <a:rPr lang="en-IN" sz="1200" dirty="0">
                          <a:solidFill>
                            <a:schemeClr val="accent2">
                              <a:lumMod val="50000"/>
                            </a:schemeClr>
                          </a:solidFill>
                        </a:rPr>
                        <a:t>Chawla et al. (2014)</a:t>
                      </a:r>
                      <a:endParaRPr lang="en-US" sz="1200" dirty="0">
                        <a:solidFill>
                          <a:schemeClr val="accent2">
                            <a:lumMod val="50000"/>
                          </a:schemeClr>
                        </a:solidFill>
                      </a:endParaRPr>
                    </a:p>
                  </a:txBody>
                  <a:tcPr anchor="ctr"/>
                </a:tc>
                <a:tc>
                  <a:txBody>
                    <a:bodyPr/>
                    <a:lstStyle/>
                    <a:p>
                      <a:r>
                        <a:rPr lang="en-US" sz="1200" b="1" dirty="0">
                          <a:solidFill>
                            <a:schemeClr val="accent2">
                              <a:lumMod val="50000"/>
                            </a:schemeClr>
                          </a:solidFill>
                        </a:rPr>
                        <a:t>SMOTE: Synthetic Minority Over-sampling Technique</a:t>
                      </a:r>
                      <a:r>
                        <a:rPr lang="en-US" sz="1200" dirty="0">
                          <a:solidFill>
                            <a:schemeClr val="accent2">
                              <a:lumMod val="50000"/>
                            </a:schemeClr>
                          </a:solidFill>
                        </a:rPr>
                        <a:t>. </a:t>
                      </a:r>
                    </a:p>
                    <a:p>
                      <a:r>
                        <a:rPr lang="en-US" sz="1200" dirty="0">
                          <a:solidFill>
                            <a:schemeClr val="accent2">
                              <a:lumMod val="50000"/>
                            </a:schemeClr>
                          </a:solidFill>
                          <a:hlinkClick r:id="rId3">
                            <a:extLst>
                              <a:ext uri="{A12FA001-AC4F-418D-AE19-62706E023703}">
                                <ahyp:hlinkClr xmlns:ahyp="http://schemas.microsoft.com/office/drawing/2018/hyperlinkcolor" val="tx"/>
                              </a:ext>
                            </a:extLst>
                          </a:hlinkClick>
                        </a:rPr>
                        <a:t>ACM Digital Library</a:t>
                      </a:r>
                      <a:endParaRPr lang="en-US" sz="1200" dirty="0">
                        <a:solidFill>
                          <a:schemeClr val="accent2">
                            <a:lumMod val="50000"/>
                          </a:schemeClr>
                        </a:solidFill>
                      </a:endParaRPr>
                    </a:p>
                  </a:txBody>
                  <a:tcPr anchor="ctr"/>
                </a:tc>
                <a:tc>
                  <a:txBody>
                    <a:bodyPr/>
                    <a:lstStyle/>
                    <a:p>
                      <a:r>
                        <a:rPr lang="en-US" sz="1200" dirty="0">
                          <a:solidFill>
                            <a:schemeClr val="accent2">
                              <a:lumMod val="50000"/>
                            </a:schemeClr>
                          </a:solidFill>
                        </a:rPr>
                        <a:t>Class-imbalance handling SMOTE.</a:t>
                      </a:r>
                    </a:p>
                  </a:txBody>
                  <a:tcPr anchor="ctr"/>
                </a:tc>
                <a:tc>
                  <a:txBody>
                    <a:bodyPr/>
                    <a:lstStyle/>
                    <a:p>
                      <a:r>
                        <a:rPr lang="en-US" sz="1200" dirty="0">
                          <a:solidFill>
                            <a:schemeClr val="accent2">
                              <a:lumMod val="50000"/>
                            </a:schemeClr>
                          </a:solidFill>
                        </a:rPr>
                        <a:t>SMOTE generates realistic synthetic minority examples and improves classifier sensitivity to minority classes vs. naive under sampling.</a:t>
                      </a:r>
                    </a:p>
                  </a:txBody>
                  <a:tcPr anchor="ctr"/>
                </a:tc>
                <a:extLst>
                  <a:ext uri="{0D108BD9-81ED-4DB2-BD59-A6C34878D82A}">
                    <a16:rowId xmlns:a16="http://schemas.microsoft.com/office/drawing/2014/main" val="3588576737"/>
                  </a:ext>
                </a:extLst>
              </a:tr>
              <a:tr h="1366683">
                <a:tc>
                  <a:txBody>
                    <a:bodyPr/>
                    <a:lstStyle/>
                    <a:p>
                      <a:r>
                        <a:rPr lang="en-IN" sz="1200" dirty="0">
                          <a:solidFill>
                            <a:schemeClr val="accent2">
                              <a:lumMod val="50000"/>
                            </a:schemeClr>
                          </a:solidFill>
                        </a:rPr>
                        <a:t>F. Li et al. (2023)</a:t>
                      </a:r>
                      <a:endParaRPr lang="en-US" sz="1200" dirty="0">
                        <a:solidFill>
                          <a:schemeClr val="accent2">
                            <a:lumMod val="50000"/>
                          </a:schemeClr>
                        </a:solidFill>
                      </a:endParaRPr>
                    </a:p>
                  </a:txBody>
                  <a:tcPr anchor="ctr"/>
                </a:tc>
                <a:tc>
                  <a:txBody>
                    <a:bodyPr/>
                    <a:lstStyle/>
                    <a:p>
                      <a:r>
                        <a:rPr lang="en-IN" sz="1200" b="1" dirty="0">
                          <a:solidFill>
                            <a:schemeClr val="accent2">
                              <a:lumMod val="50000"/>
                            </a:schemeClr>
                          </a:solidFill>
                        </a:rPr>
                        <a:t>DNN-based digital backpropagation (DBP)</a:t>
                      </a:r>
                      <a:r>
                        <a:rPr lang="en-IN" sz="1200" dirty="0">
                          <a:solidFill>
                            <a:schemeClr val="accent2">
                              <a:lumMod val="50000"/>
                            </a:schemeClr>
                          </a:solidFill>
                        </a:rPr>
                        <a:t> for nonlinear compensation.</a:t>
                      </a:r>
                    </a:p>
                    <a:p>
                      <a:r>
                        <a:rPr lang="en-IN" sz="1200" dirty="0">
                          <a:solidFill>
                            <a:schemeClr val="accent2">
                              <a:lumMod val="50000"/>
                            </a:schemeClr>
                          </a:solidFill>
                          <a:hlinkClick r:id="rId4">
                            <a:extLst>
                              <a:ext uri="{A12FA001-AC4F-418D-AE19-62706E023703}">
                                <ahyp:hlinkClr xmlns:ahyp="http://schemas.microsoft.com/office/drawing/2018/hyperlinkcolor" val="tx"/>
                              </a:ext>
                            </a:extLst>
                          </a:hlinkClick>
                        </a:rPr>
                        <a:t>ScienceDirect</a:t>
                      </a:r>
                      <a:endParaRPr lang="en-US" sz="1200" dirty="0">
                        <a:solidFill>
                          <a:schemeClr val="accent2">
                            <a:lumMod val="50000"/>
                          </a:schemeClr>
                        </a:solidFill>
                      </a:endParaRPr>
                    </a:p>
                  </a:txBody>
                  <a:tcPr anchor="ctr"/>
                </a:tc>
                <a:tc>
                  <a:txBody>
                    <a:bodyPr/>
                    <a:lstStyle/>
                    <a:p>
                      <a:r>
                        <a:rPr lang="en-US" sz="1200" dirty="0">
                          <a:solidFill>
                            <a:schemeClr val="accent2">
                              <a:lumMod val="50000"/>
                            </a:schemeClr>
                          </a:solidFill>
                        </a:rPr>
                        <a:t>Uses DNN - DBPs to approximate digital backpropagation for nonlinearity compensation.</a:t>
                      </a:r>
                    </a:p>
                  </a:txBody>
                  <a:tcPr anchor="ctr"/>
                </a:tc>
                <a:tc>
                  <a:txBody>
                    <a:bodyPr/>
                    <a:lstStyle/>
                    <a:p>
                      <a:r>
                        <a:rPr lang="en-US" sz="1200" dirty="0">
                          <a:solidFill>
                            <a:schemeClr val="accent2">
                              <a:lumMod val="50000"/>
                            </a:schemeClr>
                          </a:solidFill>
                        </a:rPr>
                        <a:t>DNN can both compensate nonlinearity and assist in performance monitoring, with BER improvements.</a:t>
                      </a:r>
                    </a:p>
                  </a:txBody>
                  <a:tcPr anchor="ctr"/>
                </a:tc>
                <a:extLst>
                  <a:ext uri="{0D108BD9-81ED-4DB2-BD59-A6C34878D82A}">
                    <a16:rowId xmlns:a16="http://schemas.microsoft.com/office/drawing/2014/main" val="1626410507"/>
                  </a:ext>
                </a:extLst>
              </a:tr>
              <a:tr h="1932689">
                <a:tc>
                  <a:txBody>
                    <a:bodyPr/>
                    <a:lstStyle/>
                    <a:p>
                      <a:r>
                        <a:rPr lang="en-US" sz="1200" dirty="0">
                          <a:solidFill>
                            <a:schemeClr val="accent2">
                              <a:lumMod val="50000"/>
                            </a:schemeClr>
                          </a:solidFill>
                        </a:rPr>
                        <a:t>Kunal Kumar (2025)</a:t>
                      </a:r>
                    </a:p>
                  </a:txBody>
                  <a:tcPr anchor="ctr"/>
                </a:tc>
                <a:tc>
                  <a:txBody>
                    <a:bodyPr/>
                    <a:lstStyle/>
                    <a:p>
                      <a:r>
                        <a:rPr lang="en-US" sz="1200" dirty="0">
                          <a:solidFill>
                            <a:schemeClr val="accent2">
                              <a:lumMod val="50000"/>
                            </a:schemeClr>
                          </a:solidFill>
                        </a:rPr>
                        <a:t>Artificial Intelligence Applications to Enhance Signal and Power Integrity in High-Speed Systems</a:t>
                      </a:r>
                    </a:p>
                    <a:p>
                      <a:r>
                        <a:rPr lang="en-US" sz="1200" dirty="0">
                          <a:solidFill>
                            <a:schemeClr val="accent2">
                              <a:lumMod val="50000"/>
                            </a:schemeClr>
                          </a:solidFill>
                          <a:hlinkClick r:id="rId5" action="ppaction://hlinkfile">
                            <a:extLst>
                              <a:ext uri="{A12FA001-AC4F-418D-AE19-62706E023703}">
                                <ahyp:hlinkClr xmlns:ahyp="http://schemas.microsoft.com/office/drawing/2018/hyperlinkcolor" val="tx"/>
                              </a:ext>
                            </a:extLst>
                          </a:hlinkClick>
                        </a:rPr>
                        <a:t>Doc</a:t>
                      </a:r>
                      <a:endParaRPr lang="en-US" sz="1200" dirty="0">
                        <a:solidFill>
                          <a:schemeClr val="accent2">
                            <a:lumMod val="50000"/>
                          </a:schemeClr>
                        </a:solidFill>
                      </a:endParaRPr>
                    </a:p>
                  </a:txBody>
                  <a:tcPr anchor="ctr"/>
                </a:tc>
                <a:tc>
                  <a:txBody>
                    <a:bodyPr/>
                    <a:lstStyle/>
                    <a:p>
                      <a:r>
                        <a:rPr lang="en-US" sz="1200" b="0" dirty="0">
                          <a:solidFill>
                            <a:schemeClr val="accent2">
                              <a:lumMod val="50000"/>
                            </a:schemeClr>
                          </a:solidFill>
                        </a:rPr>
                        <a:t>Machine Learning Surrogate Models</a:t>
                      </a:r>
                    </a:p>
                    <a:p>
                      <a:r>
                        <a:rPr lang="en-US" sz="1200" dirty="0">
                          <a:solidFill>
                            <a:schemeClr val="accent2">
                              <a:lumMod val="50000"/>
                            </a:schemeClr>
                          </a:solidFill>
                        </a:rPr>
                        <a:t>Crosstalk (NEXT/FEXT), </a:t>
                      </a:r>
                    </a:p>
                    <a:p>
                      <a:r>
                        <a:rPr lang="en-IN" sz="1200" dirty="0">
                          <a:solidFill>
                            <a:schemeClr val="accent2">
                              <a:lumMod val="50000"/>
                            </a:schemeClr>
                          </a:solidFill>
                        </a:rPr>
                        <a:t>Random Forest (RF)</a:t>
                      </a:r>
                    </a:p>
                    <a:p>
                      <a:r>
                        <a:rPr lang="en-IN" sz="1200" dirty="0">
                          <a:solidFill>
                            <a:schemeClr val="accent2">
                              <a:lumMod val="50000"/>
                            </a:schemeClr>
                          </a:solidFill>
                        </a:rPr>
                        <a:t>Support Vector Regression (SVR)</a:t>
                      </a:r>
                    </a:p>
                    <a:p>
                      <a:r>
                        <a:rPr lang="en-IN" sz="1200" dirty="0">
                          <a:solidFill>
                            <a:schemeClr val="accent2">
                              <a:lumMod val="50000"/>
                            </a:schemeClr>
                          </a:solidFill>
                        </a:rPr>
                        <a:t>Gaussian Process Regression (GPR</a:t>
                      </a:r>
                      <a:r>
                        <a:rPr lang="en-IN" sz="1200" dirty="0">
                          <a:solidFill>
                            <a:srgbClr val="C00000"/>
                          </a:solidFill>
                        </a:rPr>
                        <a:t>)</a:t>
                      </a:r>
                    </a:p>
                    <a:p>
                      <a:endParaRPr lang="en-US" sz="1200" dirty="0"/>
                    </a:p>
                  </a:txBody>
                  <a:tcPr anchor="ctr"/>
                </a:tc>
                <a:tc>
                  <a:txBody>
                    <a:bodyPr/>
                    <a:lstStyle/>
                    <a:p>
                      <a:r>
                        <a:rPr lang="en-US" sz="1200" dirty="0">
                          <a:solidFill>
                            <a:schemeClr val="accent2">
                              <a:lumMod val="50000"/>
                            </a:schemeClr>
                          </a:solidFill>
                        </a:rPr>
                        <a:t>Traditional EM simulations take </a:t>
                      </a:r>
                      <a:r>
                        <a:rPr lang="en-US" sz="1200" b="1" dirty="0">
                          <a:solidFill>
                            <a:schemeClr val="accent2">
                              <a:lumMod val="50000"/>
                            </a:schemeClr>
                          </a:solidFill>
                        </a:rPr>
                        <a:t>hours to days</a:t>
                      </a:r>
                      <a:r>
                        <a:rPr lang="en-US" sz="1200" dirty="0">
                          <a:solidFill>
                            <a:schemeClr val="accent2">
                              <a:lumMod val="50000"/>
                            </a:schemeClr>
                          </a:solidFill>
                        </a:rPr>
                        <a:t>, while AI surrogate models can predict:</a:t>
                      </a:r>
                    </a:p>
                    <a:p>
                      <a:r>
                        <a:rPr lang="en-US" sz="1200" dirty="0">
                          <a:solidFill>
                            <a:schemeClr val="accent2">
                              <a:lumMod val="50000"/>
                            </a:schemeClr>
                          </a:solidFill>
                        </a:rPr>
                        <a:t>Impedance, Crosstalk, Eye diagrams, S-parameters</a:t>
                      </a:r>
                    </a:p>
                  </a:txBody>
                  <a:tcPr anchor="ctr"/>
                </a:tc>
                <a:extLst>
                  <a:ext uri="{0D108BD9-81ED-4DB2-BD59-A6C34878D82A}">
                    <a16:rowId xmlns:a16="http://schemas.microsoft.com/office/drawing/2014/main" val="1888116840"/>
                  </a:ext>
                </a:extLst>
              </a:tr>
            </a:tbl>
          </a:graphicData>
        </a:graphic>
      </p:graphicFrame>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pic>
        <p:nvPicPr>
          <p:cNvPr id="3" name="Picture 2" descr="925716457s.png">
            <a:extLst>
              <a:ext uri="{FF2B5EF4-FFF2-40B4-BE49-F238E27FC236}">
                <a16:creationId xmlns:a16="http://schemas.microsoft.com/office/drawing/2014/main" id="{C3E1140A-156F-2D08-22CC-0AB424114429}"/>
              </a:ext>
            </a:extLst>
          </p:cNvPr>
          <p:cNvPicPr>
            <a:picLocks noChangeAspect="1"/>
          </p:cNvPicPr>
          <p:nvPr/>
        </p:nvPicPr>
        <p:blipFill>
          <a:blip r:embed="rId6" cstate="print"/>
          <a:stretch>
            <a:fillRect/>
          </a:stretch>
        </p:blipFill>
        <p:spPr>
          <a:xfrm>
            <a:off x="10255044" y="6204156"/>
            <a:ext cx="1787013" cy="496517"/>
          </a:xfrm>
          <a:prstGeom prst="rect">
            <a:avLst/>
          </a:prstGeom>
        </p:spPr>
      </p:pic>
    </p:spTree>
    <p:extLst>
      <p:ext uri="{BB962C8B-B14F-4D97-AF65-F5344CB8AC3E}">
        <p14:creationId xmlns:p14="http://schemas.microsoft.com/office/powerpoint/2010/main" val="3969996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1039F-FCCC-C48A-E03F-8A3A7CDC2FDE}"/>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7A055EB7-FB71-1A63-6912-8D727E26F952}"/>
              </a:ext>
            </a:extLst>
          </p:cNvPr>
          <p:cNvSpPr>
            <a:spLocks noGrp="1"/>
          </p:cNvSpPr>
          <p:nvPr>
            <p:ph idx="13"/>
          </p:nvPr>
        </p:nvSpPr>
        <p:spPr>
          <a:xfrm>
            <a:off x="914400" y="2331791"/>
            <a:ext cx="8686800" cy="3347649"/>
          </a:xfrm>
        </p:spPr>
        <p:txBody>
          <a:bodyPr/>
          <a:lstStyle/>
          <a:p>
            <a:pPr marL="342900" indent="-342900">
              <a:buFont typeface="+mj-lt"/>
              <a:buAutoNum type="arabicPeriod"/>
            </a:pPr>
            <a:r>
              <a:rPr lang="en-IN" dirty="0"/>
              <a:t>Real time signal quality assessment and power. </a:t>
            </a:r>
          </a:p>
          <a:p>
            <a:r>
              <a:rPr lang="en-IN" dirty="0"/>
              <a:t>     By SA Abd El-</a:t>
            </a:r>
            <a:r>
              <a:rPr lang="en-IN" dirty="0" err="1"/>
              <a:t>Mottaleb</a:t>
            </a:r>
            <a:r>
              <a:rPr lang="en-IN" dirty="0"/>
              <a:t> (2025) </a:t>
            </a:r>
          </a:p>
          <a:p>
            <a:r>
              <a:rPr lang="en-IN" dirty="0"/>
              <a:t>     Source:	</a:t>
            </a:r>
            <a:r>
              <a:rPr lang="en-IN" u="sng" dirty="0" err="1">
                <a:hlinkClick r:id="rId2"/>
              </a:rPr>
              <a:t>Mdpi</a:t>
            </a:r>
            <a:r>
              <a:rPr lang="en-IN" u="sng" dirty="0">
                <a:hlinkClick r:id="rId2"/>
              </a:rPr>
              <a:t> research paper</a:t>
            </a:r>
            <a:endParaRPr lang="en-IN" u="sng" dirty="0"/>
          </a:p>
          <a:p>
            <a:endParaRPr lang="en-IN" dirty="0"/>
          </a:p>
          <a:p>
            <a:r>
              <a:rPr lang="en-IN" dirty="0"/>
              <a:t>2. Comprehensive survey on Machine learning and deep learning. </a:t>
            </a:r>
          </a:p>
          <a:p>
            <a:r>
              <a:rPr lang="en-IN" dirty="0"/>
              <a:t>    By MA </a:t>
            </a:r>
            <a:r>
              <a:rPr lang="en-IN" dirty="0" err="1"/>
              <a:t>Amirabadi</a:t>
            </a:r>
            <a:r>
              <a:rPr lang="en-IN" dirty="0"/>
              <a:t> (2025)</a:t>
            </a:r>
          </a:p>
          <a:p>
            <a:r>
              <a:rPr lang="en-IN" dirty="0"/>
              <a:t>    Source: 	</a:t>
            </a:r>
            <a:r>
              <a:rPr lang="en-IN" u="sng" dirty="0">
                <a:hlinkClick r:id="rId3"/>
              </a:rPr>
              <a:t>www.ieeexplore.ieee.org</a:t>
            </a:r>
            <a:endParaRPr lang="en-IN" u="sng" dirty="0"/>
          </a:p>
          <a:p>
            <a:endParaRPr lang="en-IN" dirty="0"/>
          </a:p>
        </p:txBody>
      </p:sp>
      <p:sp>
        <p:nvSpPr>
          <p:cNvPr id="5" name="Slide Number Placeholder 4">
            <a:extLst>
              <a:ext uri="{FF2B5EF4-FFF2-40B4-BE49-F238E27FC236}">
                <a16:creationId xmlns:a16="http://schemas.microsoft.com/office/drawing/2014/main" id="{8BC59E34-9BD2-2FCB-74F0-93C0F4658B8C}"/>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3454351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765973" y="692943"/>
            <a:ext cx="9875463" cy="599768"/>
          </a:xfrm>
        </p:spPr>
        <p:txBody>
          <a:bodyPr/>
          <a:lstStyle/>
          <a:p>
            <a:r>
              <a:rPr lang="en-IN" dirty="0"/>
              <a:t>Conclusion</a:t>
            </a:r>
            <a:r>
              <a:rPr lang="en-US" dirty="0"/>
              <a:t> &amp; takeaway</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550564" y="2303028"/>
            <a:ext cx="9510726" cy="4097773"/>
          </a:xfrm>
        </p:spPr>
        <p:txBody>
          <a:bodyPr>
            <a:normAutofit/>
          </a:bodyPr>
          <a:lstStyle/>
          <a:p>
            <a:r>
              <a:rPr lang="en-US" dirty="0"/>
              <a:t>The proposed deep learning assisted signal integrity assessment system successfully overcomes the limitations of traditional analysis in optical communication. By integrating advanced preprocessing, balanced data modeling, and a Dual-Learner Fusion Architecture, the system provides faster, more reliable, and highly accurate signal-quality classification.</a:t>
            </a:r>
          </a:p>
          <a:p>
            <a:pPr marL="0" indent="0">
              <a:buNone/>
            </a:pPr>
            <a:endParaRPr lang="en-US" dirty="0"/>
          </a:p>
          <a:p>
            <a:r>
              <a:rPr lang="en-US" dirty="0"/>
              <a:t>The automation achieved through the GUI enabling real-time evaluation with minimal effort. Overall, this approach enhances performance, reduces cost and complexity, and demonstrates a scalable solution for next-generation optical communication systems.</a:t>
            </a:r>
          </a:p>
          <a:p>
            <a:endParaRPr lang="en-US" dirty="0"/>
          </a:p>
          <a:p>
            <a:endParaRPr lang="en-US" dirty="0"/>
          </a:p>
          <a:p>
            <a:pPr lvl="8"/>
            <a:r>
              <a:rPr lang="en-US" sz="2400" dirty="0">
                <a:solidFill>
                  <a:srgbClr val="202C8F"/>
                </a:solidFill>
                <a:latin typeface="Times New Roman" panose="02020603050405020304" pitchFamily="18" charset="0"/>
                <a:cs typeface="Times New Roman" panose="02020603050405020304" pitchFamily="18" charset="0"/>
              </a:rPr>
              <a:t>THANKYOU</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pic>
        <p:nvPicPr>
          <p:cNvPr id="4" name="Picture 3" descr="925716457s.png">
            <a:extLst>
              <a:ext uri="{FF2B5EF4-FFF2-40B4-BE49-F238E27FC236}">
                <a16:creationId xmlns:a16="http://schemas.microsoft.com/office/drawing/2014/main" id="{E0502BCB-C7C8-FB2D-EA23-CC65ED350EE3}"/>
              </a:ext>
            </a:extLst>
          </p:cNvPr>
          <p:cNvPicPr>
            <a:picLocks noChangeAspect="1"/>
          </p:cNvPicPr>
          <p:nvPr/>
        </p:nvPicPr>
        <p:blipFill>
          <a:blip r:embed="rId3" cstate="print"/>
          <a:stretch>
            <a:fillRect/>
          </a:stretch>
        </p:blipFill>
        <p:spPr>
          <a:xfrm>
            <a:off x="10255044" y="6204156"/>
            <a:ext cx="1787013" cy="496517"/>
          </a:xfrm>
          <a:prstGeom prst="rect">
            <a:avLst/>
          </a:prstGeom>
        </p:spPr>
      </p:pic>
    </p:spTree>
    <p:extLst>
      <p:ext uri="{BB962C8B-B14F-4D97-AF65-F5344CB8AC3E}">
        <p14:creationId xmlns:p14="http://schemas.microsoft.com/office/powerpoint/2010/main" val="2498021601"/>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{F5ABEE2B-A3E2-4050-AB2B-B045EE1BCA19}tf78438558_win32</Template>
  <TotalTime>108</TotalTime>
  <Words>649</Words>
  <Application>Microsoft Office PowerPoint</Application>
  <PresentationFormat>Widescreen</PresentationFormat>
  <Paragraphs>88</Paragraphs>
  <Slides>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Arial Black</vt:lpstr>
      <vt:lpstr>Calibri</vt:lpstr>
      <vt:lpstr>Sabon Next LT</vt:lpstr>
      <vt:lpstr>Times New Roman</vt:lpstr>
      <vt:lpstr>Custom</vt:lpstr>
      <vt:lpstr>Deep Learning Signal Integrity Assessment for Optical Communication</vt:lpstr>
      <vt:lpstr>Abstract </vt:lpstr>
      <vt:lpstr>Existing Methods</vt:lpstr>
      <vt:lpstr>Proposed Method</vt:lpstr>
      <vt:lpstr>Literature survey</vt:lpstr>
      <vt:lpstr>References</vt:lpstr>
      <vt:lpstr>Conclusion &amp; takeaway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Yuvi Maddy</dc:creator>
  <cp:lastModifiedBy>Yuvi Maddy</cp:lastModifiedBy>
  <cp:revision>4</cp:revision>
  <dcterms:created xsi:type="dcterms:W3CDTF">2025-11-20T17:04:03Z</dcterms:created>
  <dcterms:modified xsi:type="dcterms:W3CDTF">2025-11-21T01:30:17Z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